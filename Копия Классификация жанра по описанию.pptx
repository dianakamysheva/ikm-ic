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15"/>
  </p:notesMasterIdLst>
  <p:sldIdLst>
    <p:sldId id="256" r:id="rId2"/>
    <p:sldId id="344" r:id="rId3"/>
    <p:sldId id="260" r:id="rId4"/>
    <p:sldId id="262" r:id="rId5"/>
    <p:sldId id="263" r:id="rId6"/>
    <p:sldId id="265" r:id="rId7"/>
    <p:sldId id="266" r:id="rId8"/>
    <p:sldId id="270" r:id="rId9"/>
    <p:sldId id="272" r:id="rId10"/>
    <p:sldId id="273" r:id="rId11"/>
    <p:sldId id="275" r:id="rId12"/>
    <p:sldId id="276" r:id="rId13"/>
    <p:sldId id="277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  <p:embeddedFont>
      <p:font typeface="Roboto Condensed Light" panose="02000000000000000000" pitchFamily="2" charset="0"/>
      <p:regular r:id="rId24"/>
      <p:bold r:id="rId25"/>
      <p:italic r:id="rId26"/>
      <p:boldItalic r:id="rId27"/>
    </p:embeddedFont>
    <p:embeddedFont>
      <p:font typeface="Squada One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3DC6A6-F67E-4471-9903-04EBE16C00DC}">
  <a:tblStyle styleId="{4F3DC6A6-F67E-4471-9903-04EBE16C00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0" i="0" u="none" strike="noStrike" cap="non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5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2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1_1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54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707" r:id="rId2"/>
    <p:sldLayoutId id="2147483708" r:id="rId3"/>
    <p:sldLayoutId id="2147483709" r:id="rId4"/>
    <p:sldLayoutId id="2147483710" r:id="rId5"/>
    <p:sldLayoutId id="214748374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6.png"/><Relationship Id="rId5" Type="http://schemas.openxmlformats.org/officeDocument/2006/relationships/image" Target="../media/image18.png"/><Relationship Id="rId10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4"/>
          <p:cNvSpPr txBox="1">
            <a:spLocks noGrp="1"/>
          </p:cNvSpPr>
          <p:nvPr>
            <p:ph type="title"/>
          </p:nvPr>
        </p:nvSpPr>
        <p:spPr>
          <a:xfrm>
            <a:off x="457200" y="3075850"/>
            <a:ext cx="8229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Roboto Condensed"/>
                <a:ea typeface="Roboto Condensed"/>
                <a:cs typeface="Roboto Condensed"/>
                <a:sym typeface="Roboto Condensed"/>
              </a:rPr>
              <a:t>Классификация жанра фильма по описанию</a:t>
            </a:r>
            <a:endParaRPr b="1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66" name="Google Shape;766;p94"/>
          <p:cNvSpPr txBox="1">
            <a:spLocks noGrp="1"/>
          </p:cNvSpPr>
          <p:nvPr>
            <p:ph type="subTitle" idx="1"/>
          </p:nvPr>
        </p:nvSpPr>
        <p:spPr>
          <a:xfrm>
            <a:off x="457200" y="4208325"/>
            <a:ext cx="8229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Камышева Диана ИТ-5</a:t>
            </a:r>
            <a:endParaRPr sz="14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Деревянных Анастасия ИТ-5</a:t>
            </a:r>
            <a:endParaRPr sz="14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Нуждин Алексей ИТ-6</a:t>
            </a:r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C5E6E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40080" y="100584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Разработать, обучить и сравнить две модели классификации жанра фильма по тексту описания,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лучшую и предоставить результат через удобный веб-интерфейс.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65760" y="2286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2A4E6A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1460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7552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и подготовить датасет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Genre Description (Kaggle)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3291840" y="2286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2A4E6A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514600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13632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Предобработка: TF-IDF, кодирование,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признаков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217920" y="2286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2A4E6A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514600"/>
            <a:ext cx="411480" cy="4114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39712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и сравнить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модели классификации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365760" y="3520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2A4E6A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749040"/>
            <a:ext cx="411480" cy="4114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7552" y="359359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 и анализ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 (confusion matrix)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291840" y="3520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2A4E6A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749040"/>
            <a:ext cx="411480" cy="4114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913632" y="359359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лучшую модель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(pickle) для переиспользования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6217920" y="3520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2A4E6A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3749040"/>
            <a:ext cx="411480" cy="4114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839712" y="359359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на Gradio: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предсказание, обучение, тест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F5A6E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1325880" y="1143000"/>
            <a:ext cx="868680" cy="868680"/>
          </a:xfrm>
          <a:prstGeom prst="ellipse">
            <a:avLst/>
          </a:prstGeom>
          <a:solidFill>
            <a:srgbClr val="3AADAD">
              <a:alpha val="80000"/>
            </a:srgbClr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" y="1216152"/>
            <a:ext cx="731520" cy="731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36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Стриминговые сервисы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94360" y="26517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разметка жанра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метаданные неполны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(IMDb, Кинопоиск)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3291840" y="9601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F5A6E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160520" y="1143000"/>
            <a:ext cx="868680" cy="868680"/>
          </a:xfrm>
          <a:prstGeom prst="ellipse">
            <a:avLst/>
          </a:prstGeom>
          <a:solidFill>
            <a:srgbClr val="3AADAD">
              <a:alpha val="80000"/>
            </a:srgbClr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1216152"/>
            <a:ext cx="731520" cy="7315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2900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и преподаватели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429000" y="26517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пример типового pipeline: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→ модель → интерфейс.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Понятная структура кода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126480" y="9601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F5A6E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995160" y="1143000"/>
            <a:ext cx="868680" cy="868680"/>
          </a:xfrm>
          <a:prstGeom prst="ellipse">
            <a:avLst/>
          </a:prstGeom>
          <a:solidFill>
            <a:srgbClr val="3AADAD">
              <a:alpha val="80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1216152"/>
            <a:ext cx="731520" cy="7315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636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Разработчики прототипов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263640" y="26517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Референс небольшого ML-сервиса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веб-интерфейсом и автотестами.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365760" y="914400"/>
            <a:ext cx="3840480" cy="3840480"/>
          </a:xfrm>
          <a:prstGeom prst="roundRect">
            <a:avLst>
              <a:gd name="adj" fmla="val 2381"/>
            </a:avLst>
          </a:prstGeom>
          <a:solidFill>
            <a:srgbClr val="1C506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1051560"/>
            <a:ext cx="640080" cy="6400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Genre Description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0292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 •  IMDb Movies Genre Classification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02920" y="2697480"/>
            <a:ext cx="3566160" cy="256032"/>
          </a:xfrm>
          <a:prstGeom prst="roundRect">
            <a:avLst>
              <a:gd name="adj" fmla="val 14286"/>
            </a:avLst>
          </a:prstGeom>
          <a:solidFill>
            <a:srgbClr val="2A6878">
              <a:alpha val="80000"/>
            </a:srgbClr>
          </a:solidFill>
          <a:ln/>
        </p:spPr>
      </p:sp>
      <p:sp>
        <p:nvSpPr>
          <p:cNvPr id="10" name="Text 5"/>
          <p:cNvSpPr/>
          <p:nvPr/>
        </p:nvSpPr>
        <p:spPr>
          <a:xfrm>
            <a:off x="594360" y="2715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—  Название фильма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02920" y="2990088"/>
            <a:ext cx="3566160" cy="256032"/>
          </a:xfrm>
          <a:prstGeom prst="roundRect">
            <a:avLst>
              <a:gd name="adj" fmla="val 14286"/>
            </a:avLst>
          </a:prstGeom>
          <a:solidFill>
            <a:srgbClr val="2A6878">
              <a:alpha val="80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594360" y="30083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—  Год выхода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" y="3282696"/>
            <a:ext cx="3566160" cy="256032"/>
          </a:xfrm>
          <a:prstGeom prst="roundRect">
            <a:avLst>
              <a:gd name="adj" fmla="val 14286"/>
            </a:avLst>
          </a:prstGeom>
          <a:solidFill>
            <a:srgbClr val="2A6878">
              <a:alpha val="8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594360" y="33009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 —  Жанр (целевая переменная)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3575304"/>
            <a:ext cx="3566160" cy="256032"/>
          </a:xfrm>
          <a:prstGeom prst="roundRect">
            <a:avLst>
              <a:gd name="adj" fmla="val 14286"/>
            </a:avLst>
          </a:prstGeom>
          <a:solidFill>
            <a:srgbClr val="2A6878">
              <a:alpha val="8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594360" y="35935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 —  Текстовое описание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17720" y="96012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235568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617720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461772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03720" y="96012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235568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903720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690372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 (отложена)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17720" y="28346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235568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617720" y="3017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461772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признаков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903720" y="28346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235568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903720" y="3017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690372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примеров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жанр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ПРЕДОБРАБОТКА ДАННЫХ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365760" y="96012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E4F6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530352" y="1508760"/>
            <a:ext cx="502920" cy="502920"/>
          </a:xfrm>
          <a:prstGeom prst="ellipse">
            <a:avLst/>
          </a:prstGeom>
          <a:solidFill>
            <a:srgbClr val="3AADAD">
              <a:alpha val="75000"/>
            </a:srgbClr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545336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1069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редких жанров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143000" y="1554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Жанры с менее чем 2 примерами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удаляются из датасета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3291840" y="96012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E4F6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456432" y="1508760"/>
            <a:ext cx="502920" cy="502920"/>
          </a:xfrm>
          <a:prstGeom prst="ellipse">
            <a:avLst/>
          </a:prstGeom>
          <a:solidFill>
            <a:srgbClr val="3AADAD">
              <a:alpha val="75000"/>
            </a:srgbClr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1545336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69080" y="1069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 GENRE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069080" y="1554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LabelEncoder: строковые жанры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преобразуются в числа (0, 1, 2…)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6217920" y="96012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E4F6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3AADAD">
              <a:alpha val="75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1545336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95160" y="1069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TITLE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995160" y="1554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для названий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фильмов (вспомогательный признак)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65760" y="2874585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E4F6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30352" y="3429000"/>
            <a:ext cx="502920" cy="502920"/>
          </a:xfrm>
          <a:prstGeom prst="ellipse">
            <a:avLst/>
          </a:prstGeom>
          <a:solidFill>
            <a:srgbClr val="3AADAD">
              <a:alpha val="75000"/>
            </a:srgbClr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465576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DATE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143000" y="34747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 '????' → среднее;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z-score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3291840" y="28803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E4F6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3456432" y="3429000"/>
            <a:ext cx="502920" cy="502920"/>
          </a:xfrm>
          <a:prstGeom prst="ellipse">
            <a:avLst/>
          </a:prstGeom>
          <a:solidFill>
            <a:srgbClr val="3AADAD">
              <a:alpha val="75000"/>
            </a:srgbClr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3008" y="3465576"/>
            <a:ext cx="411480" cy="4114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06908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на DESCRIPTION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4069080" y="34747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 признаков, биграммы,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min_df=5, max_df=0.8, стоп-слова EN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217920" y="28803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E4F6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82512" y="3429000"/>
            <a:ext cx="502920" cy="502920"/>
          </a:xfrm>
          <a:prstGeom prst="ellipse">
            <a:avLst/>
          </a:prstGeom>
          <a:solidFill>
            <a:srgbClr val="3AADAD">
              <a:alpha val="75000"/>
            </a:srgbClr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088" y="3465576"/>
            <a:ext cx="411480" cy="4114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9516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выборки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6995160" y="34747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StratifiedKFold: 70% обучение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тест, random_state=42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МОДЕЛИ: SIMPLE VS HARD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320040" y="868680"/>
            <a:ext cx="4069080" cy="3977640"/>
          </a:xfrm>
          <a:prstGeom prst="roundRect">
            <a:avLst>
              <a:gd name="adj" fmla="val 2759"/>
            </a:avLst>
          </a:prstGeom>
          <a:solidFill>
            <a:srgbClr val="1A4F6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1645920" y="1005840"/>
            <a:ext cx="822960" cy="822960"/>
          </a:xfrm>
          <a:prstGeom prst="ellipse">
            <a:avLst/>
          </a:prstGeom>
          <a:solidFill>
            <a:srgbClr val="3AADAD">
              <a:alpha val="80000"/>
            </a:srgbClr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2" y="1078992"/>
            <a:ext cx="676656" cy="6766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19202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Собственная реализация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57200" y="2514600"/>
            <a:ext cx="3794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Для каждого жанра — вектор весов слов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Вес = разница среднего TF-IDF жанра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vs. среднего по остальным жанрам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Слишком частые слова обнуляются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L2-нормализация весов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Предсказание = argmax скалярного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произведения вектора описания на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матрицу весов (косинусное сходство)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4754880" y="868680"/>
            <a:ext cx="4069080" cy="3977640"/>
          </a:xfrm>
          <a:prstGeom prst="roundRect">
            <a:avLst>
              <a:gd name="adj" fmla="val 2759"/>
            </a:avLst>
          </a:prstGeom>
          <a:solidFill>
            <a:srgbClr val="1A3E6A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080760" y="1005840"/>
            <a:ext cx="822960" cy="822960"/>
          </a:xfrm>
          <a:prstGeom prst="ellipse">
            <a:avLst/>
          </a:prstGeom>
          <a:solidFill>
            <a:srgbClr val="5060B0">
              <a:alpha val="80000"/>
            </a:srgbClr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078992"/>
            <a:ext cx="676656" cy="6766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92040" y="19202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— Логистическая регрессия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892040" y="2514600"/>
            <a:ext cx="3794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LogisticRegression (sklearn)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max_iter = 3000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 пайплайне со StandardScaler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Все признаки: TITLE + DATE + TF-IDF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Разделение на 5 стратифицированных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фолдов (StratifiedKFold)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Готовый промышленный алгоритм 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эталонная точка сравнения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ОБУЧЕНИЯ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274320" y="914400"/>
            <a:ext cx="1280160" cy="3840480"/>
          </a:xfrm>
          <a:prstGeom prst="roundRect">
            <a:avLst>
              <a:gd name="adj" fmla="val 5714"/>
            </a:avLst>
          </a:prstGeom>
          <a:solidFill>
            <a:srgbClr val="1E4E68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658368" y="1024128"/>
            <a:ext cx="512064" cy="512064"/>
          </a:xfrm>
          <a:prstGeom prst="ellipse">
            <a:avLst/>
          </a:prstGeom>
          <a:solidFill>
            <a:srgbClr val="3AADAD">
              <a:alpha val="8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58368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7472" y="162763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preporation_init()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47472" y="237744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CSV, TF-IDF,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кодирование, разбивка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572768" y="2834640"/>
            <a:ext cx="118872" cy="0"/>
          </a:xfrm>
          <a:prstGeom prst="line">
            <a:avLst/>
          </a:prstGeom>
          <a:noFill/>
          <a:ln w="25400">
            <a:solidFill>
              <a:srgbClr val="64DC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709928" y="914400"/>
            <a:ext cx="1280160" cy="3840480"/>
          </a:xfrm>
          <a:prstGeom prst="roundRect">
            <a:avLst>
              <a:gd name="adj" fmla="val 5714"/>
            </a:avLst>
          </a:prstGeom>
          <a:solidFill>
            <a:srgbClr val="1E4E68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093976" y="1024128"/>
            <a:ext cx="512064" cy="512064"/>
          </a:xfrm>
          <a:prstGeom prst="ellipse">
            <a:avLst/>
          </a:prstGeom>
          <a:solidFill>
            <a:srgbClr val="3AADAD">
              <a:alpha val="8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2093976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783080" y="162763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cross_val()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783080" y="237744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стратифицированных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фолдов (StratifiedKFold)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008376" y="2834640"/>
            <a:ext cx="118872" cy="0"/>
          </a:xfrm>
          <a:prstGeom prst="line">
            <a:avLst/>
          </a:prstGeom>
          <a:noFill/>
          <a:ln w="25400">
            <a:solidFill>
              <a:srgbClr val="64DC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145536" y="914400"/>
            <a:ext cx="1280160" cy="3840480"/>
          </a:xfrm>
          <a:prstGeom prst="roundRect">
            <a:avLst>
              <a:gd name="adj" fmla="val 5714"/>
            </a:avLst>
          </a:prstGeom>
          <a:solidFill>
            <a:srgbClr val="1E4E68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529584" y="1024128"/>
            <a:ext cx="512064" cy="512064"/>
          </a:xfrm>
          <a:prstGeom prst="ellipse">
            <a:avLst/>
          </a:prstGeom>
          <a:solidFill>
            <a:srgbClr val="3AADAD">
              <a:alpha val="8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3529584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218688" y="162763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fit_simple()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fit_hard()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218688" y="237744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обеих моделей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фолде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443984" y="2834640"/>
            <a:ext cx="118872" cy="0"/>
          </a:xfrm>
          <a:prstGeom prst="line">
            <a:avLst/>
          </a:prstGeom>
          <a:noFill/>
          <a:ln w="25400">
            <a:solidFill>
              <a:srgbClr val="64DCC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81144" y="914400"/>
            <a:ext cx="1280160" cy="3840480"/>
          </a:xfrm>
          <a:prstGeom prst="roundRect">
            <a:avLst>
              <a:gd name="adj" fmla="val 5714"/>
            </a:avLst>
          </a:prstGeom>
          <a:solidFill>
            <a:srgbClr val="1E4E68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965192" y="1024128"/>
            <a:ext cx="512064" cy="512064"/>
          </a:xfrm>
          <a:prstGeom prst="ellipse">
            <a:avLst/>
          </a:prstGeom>
          <a:solidFill>
            <a:srgbClr val="3AADAD">
              <a:alpha val="85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4965192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654296" y="162763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654296" y="237744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Предсказания на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валидационном фолде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879592" y="2834640"/>
            <a:ext cx="118872" cy="0"/>
          </a:xfrm>
          <a:prstGeom prst="line">
            <a:avLst/>
          </a:prstGeom>
          <a:noFill/>
          <a:ln w="25400">
            <a:solidFill>
              <a:srgbClr val="64DCC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016752" y="914400"/>
            <a:ext cx="1280160" cy="3840480"/>
          </a:xfrm>
          <a:prstGeom prst="roundRect">
            <a:avLst>
              <a:gd name="adj" fmla="val 5714"/>
            </a:avLst>
          </a:prstGeom>
          <a:solidFill>
            <a:srgbClr val="1E4E68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00800" y="1024128"/>
            <a:ext cx="512064" cy="512064"/>
          </a:xfrm>
          <a:prstGeom prst="ellipse">
            <a:avLst/>
          </a:prstGeom>
          <a:solidFill>
            <a:srgbClr val="3AADAD">
              <a:alpha val="85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6400800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6089904" y="162763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metrics()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089904" y="237744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Precision/Recall/F1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классу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315200" y="2834640"/>
            <a:ext cx="118872" cy="0"/>
          </a:xfrm>
          <a:prstGeom prst="line">
            <a:avLst/>
          </a:prstGeom>
          <a:noFill/>
          <a:ln w="25400">
            <a:solidFill>
              <a:srgbClr val="64DCC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452360" y="914400"/>
            <a:ext cx="1280160" cy="3840480"/>
          </a:xfrm>
          <a:prstGeom prst="roundRect">
            <a:avLst>
              <a:gd name="adj" fmla="val 5714"/>
            </a:avLst>
          </a:prstGeom>
          <a:solidFill>
            <a:srgbClr val="1E4E68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7836408" y="1024128"/>
            <a:ext cx="512064" cy="512064"/>
          </a:xfrm>
          <a:prstGeom prst="ellipse">
            <a:avLst/>
          </a:prstGeom>
          <a:solidFill>
            <a:srgbClr val="3AADAD">
              <a:alpha val="85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7836408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7525512" y="162763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save_best_model()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7525512" y="2377440"/>
            <a:ext cx="11338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модель сохраняется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best_model.pkl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ПРОЕКТА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365760" y="9144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A4A5E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1005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05840" y="987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test_prediction_runs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005840" y="1353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предсказания не падает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корректном текстовом примере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124712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0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365760" y="19202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A4A5E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57200" y="20116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05840" y="1993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test_prediction_format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05840" y="2359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возвращается строкой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разумной длины (название жанра)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130552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0" y="2011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365760" y="29260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A4A5E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57200" y="3017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005840" y="2999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test_app_imports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005840" y="3364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app.py импортируется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ошибок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136392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65760" y="39319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A4A5E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457200" y="4023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1005840" y="4005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test_model_exists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00584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best_model.pkl существует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не повреждён (&gt; 1 КБ)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14223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0" y="4023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4 теста проходят  •  pytest test_basic.py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58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(GRADIO)</a:t>
            </a:r>
            <a:endParaRPr lang="en-US" sz="2600" dirty="0"/>
          </a:p>
        </p:txBody>
      </p:sp>
      <p:sp>
        <p:nvSpPr>
          <p:cNvPr id="17" name="Shape 11"/>
          <p:cNvSpPr/>
          <p:nvPr/>
        </p:nvSpPr>
        <p:spPr>
          <a:xfrm>
            <a:off x="6126480" y="960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1A4D6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6273800" y="1020337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273800" y="1572548"/>
            <a:ext cx="2331720" cy="78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описания фильма на 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примеры (gr.Examples)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кнопка — мгновенный жанр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63640" y="230419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766560" y="1467238"/>
            <a:ext cx="1325880" cy="0"/>
          </a:xfrm>
          <a:prstGeom prst="line">
            <a:avLst/>
          </a:prstGeom>
          <a:noFill/>
          <a:ln w="12700">
            <a:solidFill>
              <a:srgbClr val="64DCC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6" name="Text 10"/>
          <p:cNvSpPr/>
          <p:nvPr/>
        </p:nvSpPr>
        <p:spPr>
          <a:xfrm>
            <a:off x="6273800" y="2582483"/>
            <a:ext cx="233172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полного pipeline с нуля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Графики: F1, Precision, Recall,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по завершении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273800" y="3397505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817360" y="3848608"/>
            <a:ext cx="1325880" cy="0"/>
          </a:xfrm>
          <a:prstGeom prst="line">
            <a:avLst/>
          </a:prstGeom>
          <a:noFill/>
          <a:ln w="12700">
            <a:solidFill>
              <a:srgbClr val="64DCC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263640" y="3860800"/>
            <a:ext cx="2331720" cy="72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 best_model.pkl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отложенных 30% данных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текстовый отчёт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Запуск:  python main.py  — браузер открывается автоматически</a:t>
            </a:r>
            <a:endParaRPr lang="en-US" sz="110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4DD40D03-3E37-436D-A44B-FC5B369E5143}"/>
              </a:ext>
            </a:extLst>
          </p:cNvPr>
          <p:cNvSpPr/>
          <p:nvPr/>
        </p:nvSpPr>
        <p:spPr>
          <a:xfrm>
            <a:off x="6766560" y="2730147"/>
            <a:ext cx="1325880" cy="0"/>
          </a:xfrm>
          <a:prstGeom prst="line">
            <a:avLst/>
          </a:prstGeom>
          <a:noFill/>
          <a:ln w="12700">
            <a:solidFill>
              <a:srgbClr val="64DCC8"/>
            </a:solidFill>
            <a:prstDash val="solid"/>
          </a:ln>
        </p:spPr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464DABF-5C54-4AA7-85E7-4EDAA860A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28" y="1619055"/>
            <a:ext cx="5856972" cy="24768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3749040" y="86868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B486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033272"/>
            <a:ext cx="320040" cy="320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206240" y="914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4206240" y="1271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App и запускает</a:t>
            </a:r>
            <a:endParaRPr lang="en-US" sz="850" dirty="0"/>
          </a:p>
        </p:txBody>
      </p:sp>
      <p:sp>
        <p:nvSpPr>
          <p:cNvPr id="9" name="Shape 4"/>
          <p:cNvSpPr/>
          <p:nvPr/>
        </p:nvSpPr>
        <p:spPr>
          <a:xfrm>
            <a:off x="3749040" y="196596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B486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213055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06240" y="20116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4206240" y="23682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App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Gradio, 3 вкладки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3749040" y="30632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B486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3227832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206240" y="3108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realization.py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4251960" y="33101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Связывает все этапы</a:t>
            </a:r>
            <a:endParaRPr lang="en-US" sz="850" dirty="0"/>
          </a:p>
        </p:txBody>
      </p:sp>
      <p:sp>
        <p:nvSpPr>
          <p:cNvPr id="17" name="Shape 10"/>
          <p:cNvSpPr/>
          <p:nvPr/>
        </p:nvSpPr>
        <p:spPr>
          <a:xfrm>
            <a:off x="365760" y="39776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B486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142232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822960" y="43799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+ FitPredict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обучение</a:t>
            </a:r>
            <a:endParaRPr lang="en-US" sz="850" dirty="0"/>
          </a:p>
        </p:txBody>
      </p:sp>
      <p:sp>
        <p:nvSpPr>
          <p:cNvPr id="21" name="Shape 13"/>
          <p:cNvSpPr/>
          <p:nvPr/>
        </p:nvSpPr>
        <p:spPr>
          <a:xfrm>
            <a:off x="2880360" y="39776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B486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1800" y="4142232"/>
            <a:ext cx="320040" cy="3200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33756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</a:t>
            </a:r>
            <a:endParaRPr lang="en-US" sz="950" dirty="0"/>
          </a:p>
        </p:txBody>
      </p:sp>
      <p:sp>
        <p:nvSpPr>
          <p:cNvPr id="24" name="Text 15"/>
          <p:cNvSpPr/>
          <p:nvPr/>
        </p:nvSpPr>
        <p:spPr>
          <a:xfrm>
            <a:off x="3337560" y="43799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графики, сохранение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5394960" y="39776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B486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142232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85216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test.py</a:t>
            </a:r>
            <a:endParaRPr lang="en-US" sz="950" dirty="0"/>
          </a:p>
        </p:txBody>
      </p:sp>
      <p:sp>
        <p:nvSpPr>
          <p:cNvPr id="28" name="Text 18"/>
          <p:cNvSpPr/>
          <p:nvPr/>
        </p:nvSpPr>
        <p:spPr>
          <a:xfrm>
            <a:off x="5852160" y="43799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на отложенных данных</a:t>
            </a:r>
            <a:endParaRPr lang="en-US" sz="850" dirty="0"/>
          </a:p>
        </p:txBody>
      </p:sp>
      <p:sp>
        <p:nvSpPr>
          <p:cNvPr id="29" name="Shape 19"/>
          <p:cNvSpPr/>
          <p:nvPr/>
        </p:nvSpPr>
        <p:spPr>
          <a:xfrm>
            <a:off x="6766560" y="30632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B486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3227832"/>
            <a:ext cx="320040" cy="3200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223760" y="3108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best_model.pkl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7223760" y="34655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сохранённая модель</a:t>
            </a:r>
            <a:endParaRPr lang="en-US" sz="850" dirty="0"/>
          </a:p>
        </p:txBody>
      </p:sp>
      <p:sp>
        <p:nvSpPr>
          <p:cNvPr id="33" name="Shape 22"/>
          <p:cNvSpPr/>
          <p:nvPr/>
        </p:nvSpPr>
        <p:spPr>
          <a:xfrm>
            <a:off x="4507992" y="1691640"/>
            <a:ext cx="9144" cy="274320"/>
          </a:xfrm>
          <a:prstGeom prst="line">
            <a:avLst/>
          </a:prstGeom>
          <a:noFill/>
          <a:ln w="19050">
            <a:solidFill>
              <a:srgbClr val="64DCC8"/>
            </a:solidFill>
            <a:prstDash val="dash"/>
          </a:ln>
        </p:spPr>
      </p:sp>
      <p:sp>
        <p:nvSpPr>
          <p:cNvPr id="34" name="Shape 23"/>
          <p:cNvSpPr/>
          <p:nvPr/>
        </p:nvSpPr>
        <p:spPr>
          <a:xfrm>
            <a:off x="4507992" y="2788920"/>
            <a:ext cx="9144" cy="274320"/>
          </a:xfrm>
          <a:prstGeom prst="line">
            <a:avLst/>
          </a:prstGeom>
          <a:noFill/>
          <a:ln w="19050">
            <a:solidFill>
              <a:srgbClr val="64DCC8"/>
            </a:solidFill>
            <a:prstDash val="dash"/>
          </a:ln>
        </p:spPr>
      </p:sp>
      <p:sp>
        <p:nvSpPr>
          <p:cNvPr id="35" name="Shape 24"/>
          <p:cNvSpPr/>
          <p:nvPr/>
        </p:nvSpPr>
        <p:spPr>
          <a:xfrm>
            <a:off x="1874520" y="3886200"/>
            <a:ext cx="2633472" cy="91440"/>
          </a:xfrm>
          <a:prstGeom prst="line">
            <a:avLst/>
          </a:prstGeom>
          <a:noFill/>
          <a:ln w="19050">
            <a:solidFill>
              <a:srgbClr val="64DCC8"/>
            </a:solidFill>
            <a:prstDash val="dash"/>
          </a:ln>
        </p:spPr>
      </p:sp>
      <p:sp>
        <p:nvSpPr>
          <p:cNvPr id="36" name="Shape 25"/>
          <p:cNvSpPr/>
          <p:nvPr/>
        </p:nvSpPr>
        <p:spPr>
          <a:xfrm>
            <a:off x="4389120" y="3886200"/>
            <a:ext cx="118872" cy="91440"/>
          </a:xfrm>
          <a:prstGeom prst="line">
            <a:avLst/>
          </a:prstGeom>
          <a:noFill/>
          <a:ln w="19050">
            <a:solidFill>
              <a:srgbClr val="64DCC8"/>
            </a:solidFill>
            <a:prstDash val="dash"/>
          </a:ln>
        </p:spPr>
      </p:sp>
      <p:sp>
        <p:nvSpPr>
          <p:cNvPr id="37" name="Shape 26"/>
          <p:cNvSpPr/>
          <p:nvPr/>
        </p:nvSpPr>
        <p:spPr>
          <a:xfrm>
            <a:off x="4507992" y="3886200"/>
            <a:ext cx="2395728" cy="91440"/>
          </a:xfrm>
          <a:prstGeom prst="line">
            <a:avLst/>
          </a:prstGeom>
          <a:noFill/>
          <a:ln w="19050">
            <a:solidFill>
              <a:srgbClr val="64DCC8"/>
            </a:solidFill>
            <a:prstDash val="dash"/>
          </a:ln>
        </p:spPr>
      </p:sp>
      <p:sp>
        <p:nvSpPr>
          <p:cNvPr id="38" name="Shape 27"/>
          <p:cNvSpPr/>
          <p:nvPr/>
        </p:nvSpPr>
        <p:spPr>
          <a:xfrm>
            <a:off x="6428473" y="3063240"/>
            <a:ext cx="9144" cy="822960"/>
          </a:xfrm>
          <a:prstGeom prst="line">
            <a:avLst/>
          </a:prstGeom>
          <a:noFill/>
          <a:ln w="19050">
            <a:solidFill>
              <a:srgbClr val="64DCC8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СИСТЕМЫ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365760" y="9601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3A2418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280160"/>
            <a:ext cx="438912" cy="43891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78992" y="10332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английский язык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78992" y="14173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TF-IDF и стоп-слова настроены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английский. Русские описания не работают.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4709160" y="9601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3A2418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280160"/>
            <a:ext cx="438912" cy="4389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22392" y="10332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Умеренная точность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422392" y="14173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линейная модель — не идеально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близких жанрах (drama/thriller).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365760" y="23774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3A2418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697480"/>
            <a:ext cx="438912" cy="43891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78992" y="24505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2 примера на жанр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78992" y="28346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Редкие жанры фильтруются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этапе подготовки данных.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09160" y="23774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3A2418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697480"/>
            <a:ext cx="438912" cy="43891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22392" y="24505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длины описания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422392" y="28346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короткие тексты дают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менее уверенный результат.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365760" y="379476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4A2B1E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69080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43000" y="38679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Фиксированная тестовая выборка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1143000" y="42519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— вкладка «Тестирование»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оценивает один и тот же срез.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ДАЛЬНЕЙШЕЕ РАЗВИТИЕ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320040" y="86868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1A4E50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ЧТО ДОСТИГНУТО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6304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от CSV до веб-интерфейса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75104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1956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принципиально разные модели обучены и сравнены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8716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модель сохраняется в best_model.pkl</a:t>
            </a:r>
            <a:endParaRPr lang="en-US" sz="11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99232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2960" y="29809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запускается одной командой</a:t>
            </a:r>
            <a:endParaRPr lang="en-US" sz="11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11296"/>
            <a:ext cx="274320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22960" y="3493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автотеста проходят (pytest)</a:t>
            </a:r>
            <a:endParaRPr lang="en-US" sz="11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3360"/>
            <a:ext cx="274320" cy="27432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22960" y="4005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превосходит случайное угадывание</a:t>
            </a:r>
            <a:endParaRPr lang="en-US" sz="1150" dirty="0"/>
          </a:p>
        </p:txBody>
      </p:sp>
      <p:sp>
        <p:nvSpPr>
          <p:cNvPr id="19" name="Shape 9"/>
          <p:cNvSpPr/>
          <p:nvPr/>
        </p:nvSpPr>
        <p:spPr>
          <a:xfrm>
            <a:off x="4709160" y="86868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1A3055">
              <a:alpha val="9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0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ДАЛЬНЕЙШЕЕ РАЗВИТИЕ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274320" cy="27432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21208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/ Трансформеры</a:t>
            </a:r>
            <a:endParaRPr lang="en-US" sz="1150" dirty="0"/>
          </a:p>
        </p:txBody>
      </p:sp>
      <p:sp>
        <p:nvSpPr>
          <p:cNvPr id="23" name="Text 12"/>
          <p:cNvSpPr/>
          <p:nvPr/>
        </p:nvSpPr>
        <p:spPr>
          <a:xfrm>
            <a:off x="5212080" y="1709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TF-IDF на BERT/word2vec</a:t>
            </a:r>
            <a:endParaRPr lang="en-US" sz="10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084832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21208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Мультижанровость</a:t>
            </a:r>
            <a:endParaRPr lang="en-US" sz="1150" dirty="0"/>
          </a:p>
        </p:txBody>
      </p:sp>
      <p:sp>
        <p:nvSpPr>
          <p:cNvPr id="26" name="Text 14"/>
          <p:cNvSpPr/>
          <p:nvPr/>
        </p:nvSpPr>
        <p:spPr>
          <a:xfrm>
            <a:off x="521208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Учесть, что у фильма может быть несколько жанров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88336"/>
            <a:ext cx="274320" cy="27432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21208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Балансировка классов</a:t>
            </a:r>
            <a:endParaRPr lang="en-US" sz="1150" dirty="0"/>
          </a:p>
        </p:txBody>
      </p:sp>
      <p:sp>
        <p:nvSpPr>
          <p:cNvPr id="29" name="Text 16"/>
          <p:cNvSpPr/>
          <p:nvPr/>
        </p:nvSpPr>
        <p:spPr>
          <a:xfrm>
            <a:off x="5212080" y="2916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Устранить перекос в сторону drama/comedy</a:t>
            </a:r>
            <a:endParaRPr lang="en-US" sz="10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91840"/>
            <a:ext cx="274320" cy="27432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212080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отчёта</a:t>
            </a:r>
            <a:endParaRPr lang="en-US" sz="1150" dirty="0"/>
          </a:p>
        </p:txBody>
      </p:sp>
      <p:sp>
        <p:nvSpPr>
          <p:cNvPr id="32" name="Text 18"/>
          <p:cNvSpPr/>
          <p:nvPr/>
        </p:nvSpPr>
        <p:spPr>
          <a:xfrm>
            <a:off x="521208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сохранение отчёта в PDF/Excel</a:t>
            </a:r>
            <a:endParaRPr lang="en-US" sz="10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895344"/>
            <a:ext cx="274320" cy="27432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212080" y="3877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тестов</a:t>
            </a:r>
            <a:endParaRPr lang="en-US" sz="1150" dirty="0"/>
          </a:p>
        </p:txBody>
      </p:sp>
      <p:sp>
        <p:nvSpPr>
          <p:cNvPr id="35" name="Text 20"/>
          <p:cNvSpPr/>
          <p:nvPr/>
        </p:nvSpPr>
        <p:spPr>
          <a:xfrm>
            <a:off x="5212080" y="4123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Привести ключи pkl и test_basic.py к единому виду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3800" dirty="0"/>
          </a:p>
        </p:txBody>
      </p:sp>
      <p:sp>
        <p:nvSpPr>
          <p:cNvPr id="5" name="Shape 1"/>
          <p:cNvSpPr/>
          <p:nvPr/>
        </p:nvSpPr>
        <p:spPr>
          <a:xfrm>
            <a:off x="2743200" y="2423160"/>
            <a:ext cx="3657600" cy="0"/>
          </a:xfrm>
          <a:prstGeom prst="line">
            <a:avLst/>
          </a:prstGeom>
          <a:noFill/>
          <a:ln w="25400">
            <a:solidFill>
              <a:srgbClr val="64DCC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жанра фильма по текстовому описанию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Камышева Диана  •  Деревянных Анастасия  •  Нуждин Алексей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ПГНИУ  •  Институт компьютерных наук и технологий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873</Words>
  <Application>Microsoft Office PowerPoint</Application>
  <PresentationFormat>Экран (16:9)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Calibri</vt:lpstr>
      <vt:lpstr>Roboto Condensed Light</vt:lpstr>
      <vt:lpstr>Squada One</vt:lpstr>
      <vt:lpstr>Arial</vt:lpstr>
      <vt:lpstr>Courier New</vt:lpstr>
      <vt:lpstr>Roboto Condensed</vt:lpstr>
      <vt:lpstr>Tech Startup XL by Slidesgo</vt:lpstr>
      <vt:lpstr>Классификация жанра фильма по описанию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Классификация жанра фильма по описанию</dc:title>
  <cp:lastModifiedBy>nhbf76</cp:lastModifiedBy>
  <cp:revision>2</cp:revision>
  <dcterms:modified xsi:type="dcterms:W3CDTF">2026-06-17T03:27:12Z</dcterms:modified>
</cp:coreProperties>
</file>